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73152" cy="514350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48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et Évaluation Intelligente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l'Inefficience Énergétique Industrielle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Hybride  FCM – FIS Sugeno – PSO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Multi-sites | Contexte Climatique MENA – Tunisie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8046720" cy="0"/>
          </a:xfrm>
          <a:prstGeom prst="line">
            <a:avLst/>
          </a:prstGeom>
          <a:noFill/>
          <a:ln w="1905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Master IASRIA — Ingénierie Avancée des Systèmes Robotisés et Intelligence Artificielle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 : Wissem   |   Encadrant : Pr. Sabeur Abid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88620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886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✓ Validé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388620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886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✓ Validé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388620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3886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Précision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388620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3886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Sites MENA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55280" y="38862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38862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v1 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d'avancement — Réunion initiale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 |   PROBLÉMATIQUE &amp; IDÉE CENTRALE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14800" cy="1828800"/>
          </a:xfrm>
          <a:prstGeom prst="rect">
            <a:avLst/>
          </a:prstGeom>
          <a:solidFill>
            <a:srgbClr val="FEF9E7"/>
          </a:solidFill>
          <a:ln w="25400">
            <a:solidFill>
              <a:srgbClr val="D35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CONSTAT TERRAIN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équipements industriels sont caractérisés (datasheet) en conditions IEC : 20°C, humidité contrôlée, Europe ou Chine.
</a:t>
            </a:r>
            <a:pPr indent="0" marL="0">
              <a:buNone/>
            </a:pPr>
            <a:r>
              <a:rPr lang="en-US" sz="10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Tunisie (MENA) : T &gt; 40°C, air sec ou humide salin, cycles thermiques extrêmes.
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surconsommation de 20–40% non expliquée par une défaillance.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1691640"/>
            <a:ext cx="502920" cy="0"/>
          </a:xfrm>
          <a:prstGeom prst="line">
            <a:avLst/>
          </a:prstGeom>
          <a:noFill/>
          <a:ln w="31750">
            <a:solidFill>
              <a:srgbClr val="F1C4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777240"/>
            <a:ext cx="3886200" cy="1828800"/>
          </a:xfrm>
          <a:prstGeom prst="rect">
            <a:avLst/>
          </a:prstGeom>
          <a:solidFill>
            <a:srgbClr val="EBF5FB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CONTRIBUTION ORIGINALE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170432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correctif intelligent  </a:t>
            </a:r>
            <a:pPr indent="0" marL="0">
              <a:buNone/>
            </a:pPr>
            <a:r>
              <a:rPr lang="en-US" sz="1400" b="1" dirty="0">
                <a:solidFill>
                  <a:srgbClr val="1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K_MENA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Quantifie l'écart entre la performance IEC et la réalité MENA via un modèle hybride FCM–FIS–PSO appris sur données IoT terrain multi-sites.
</a:t>
            </a:r>
            <a:pPr indent="0" marL="0">
              <a:buNone/>
            </a:pPr>
            <a:r>
              <a:rPr lang="en-US" sz="1000" b="1" dirty="0">
                <a:solidFill>
                  <a:srgbClr val="1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K_MENA = I_ineff_MENA / I_ineff_IEC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788920"/>
            <a:ext cx="8503920" cy="1005840"/>
          </a:xfrm>
          <a:prstGeom prst="rect">
            <a:avLst/>
          </a:prstGeom>
          <a:solidFill>
            <a:srgbClr val="F9EB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34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LACUNE IDENTIFIÉE DANS LA LITTÉRATURE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1272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 et al. (2021, Energy Reports) : FIS + énergie industrielle ✓ — mais données chinoises/européennes, aucun facteur climatique chaud aride, pas de couplage FCM–PSO. Ce mémoire comble exactement cette lacune.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9319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de recherche 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39319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"Comment quantifier intelligemment l'inefficience énergétique industrielle en intégrant le contexte climatique MENA comme variable structurelle ?"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 |   PIPELINE INTELLIGENT FCM – FIS SUGENO – PSO – K_MENA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132588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777240"/>
            <a:ext cx="1325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terrain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81912" y="1179576"/>
            <a:ext cx="128016" cy="0"/>
          </a:xfrm>
          <a:prstGeom prst="line">
            <a:avLst/>
          </a:prstGeom>
          <a:noFill/>
          <a:ln w="25400">
            <a:solidFill>
              <a:srgbClr val="F1C4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0317" y="1069848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09928" y="777240"/>
            <a:ext cx="1325880" cy="804672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09928" y="777240"/>
            <a:ext cx="1325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[ΔP, T_norm, LF]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35808" y="1179576"/>
            <a:ext cx="128016" cy="0"/>
          </a:xfrm>
          <a:prstGeom prst="line">
            <a:avLst/>
          </a:prstGeom>
          <a:noFill/>
          <a:ln w="25400">
            <a:solidFill>
              <a:srgbClr val="F1C4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4213" y="1069848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63824" y="777240"/>
            <a:ext cx="1325880" cy="8046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63824" y="777240"/>
            <a:ext cx="1325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C=3 régimes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9704" y="1179576"/>
            <a:ext cx="128016" cy="0"/>
          </a:xfrm>
          <a:prstGeom prst="line">
            <a:avLst/>
          </a:prstGeom>
          <a:noFill/>
          <a:ln w="25400">
            <a:solidFill>
              <a:srgbClr val="F1C40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8109" y="1069848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777240"/>
            <a:ext cx="1325880" cy="8046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777240"/>
            <a:ext cx="1325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Sugeno</a:t>
            </a:r>
            <a:endParaRPr lang="en-US" sz="11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I_ineff ∈ [0,1]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1179576"/>
            <a:ext cx="128016" cy="0"/>
          </a:xfrm>
          <a:prstGeom prst="line">
            <a:avLst/>
          </a:prstGeom>
          <a:noFill/>
          <a:ln w="25400">
            <a:solidFill>
              <a:srgbClr val="F1C40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2005" y="1069848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71616" y="777240"/>
            <a:ext cx="1325880" cy="80467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71616" y="777240"/>
            <a:ext cx="1325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Optim.</a:t>
            </a:r>
            <a:endParaRPr lang="en-US" sz="11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θ* calibrés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97496" y="1179576"/>
            <a:ext cx="128016" cy="0"/>
          </a:xfrm>
          <a:prstGeom prst="line">
            <a:avLst/>
          </a:prstGeom>
          <a:noFill/>
          <a:ln w="25400">
            <a:solidFill>
              <a:srgbClr val="F1C40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35901" y="1069848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25512" y="777240"/>
            <a:ext cx="1325880" cy="8046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25512" y="777240"/>
            <a:ext cx="1325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K_MENA</a:t>
            </a:r>
            <a:endParaRPr lang="en-US" sz="11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correctif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1691640"/>
            <a:ext cx="1325880" cy="1371600"/>
          </a:xfrm>
          <a:prstGeom prst="rect">
            <a:avLst/>
          </a:prstGeom>
          <a:solidFill>
            <a:srgbClr val="ECF0F1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1691640"/>
            <a:ext cx="132588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16916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01752" y="1975104"/>
            <a:ext cx="1234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P_mesurée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T_amb, HR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Courant, LF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709928" y="1691640"/>
            <a:ext cx="1325880" cy="1371600"/>
          </a:xfrm>
          <a:prstGeom prst="rect">
            <a:avLst/>
          </a:prstGeom>
          <a:solidFill>
            <a:srgbClr val="ECF0F1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09928" y="1691640"/>
            <a:ext cx="1325880" cy="256032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09928" y="16916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755648" y="1975104"/>
            <a:ext cx="1234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ΔP=(P−Pref)/Pref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T_norm=(T−20)/30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Normalisation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163824" y="1691640"/>
            <a:ext cx="1325880" cy="1371600"/>
          </a:xfrm>
          <a:prstGeom prst="rect">
            <a:avLst/>
          </a:prstGeom>
          <a:solidFill>
            <a:srgbClr val="ECF0F1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63824" y="1691640"/>
            <a:ext cx="1325880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63824" y="16916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09544" y="1975104"/>
            <a:ext cx="1234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J=Σuᵢⱼᵐ||x−cⱼ||²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XB=0.1176 ✓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Acc=97% ✓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17720" y="1691640"/>
            <a:ext cx="1325880" cy="1371600"/>
          </a:xfrm>
          <a:prstGeom prst="rect">
            <a:avLst/>
          </a:prstGeom>
          <a:solidFill>
            <a:srgbClr val="ECF0F1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17720" y="1691640"/>
            <a:ext cx="132588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16916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SUGENO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63440" y="1975104"/>
            <a:ext cx="1234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yᵢ=aᵢΔP+bᵢT+cᵢLF+dᵢ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I=Σwᵢyᵢ/Σwᵢ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règles floues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071616" y="1691640"/>
            <a:ext cx="1325880" cy="1371600"/>
          </a:xfrm>
          <a:prstGeom prst="rect">
            <a:avLst/>
          </a:prstGeom>
          <a:solidFill>
            <a:srgbClr val="ECF0F1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71616" y="1691640"/>
            <a:ext cx="1325880" cy="25603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71616" y="16916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17336" y="1975104"/>
            <a:ext cx="1234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v=w·v+c₁r₁Δpbest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+c₂r₂Δgbest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θ={aᵢ,bᵢ,cᵢ,dᵢ,σᵢ}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525512" y="1691640"/>
            <a:ext cx="1325880" cy="1371600"/>
          </a:xfrm>
          <a:prstGeom prst="rect">
            <a:avLst/>
          </a:prstGeom>
          <a:solidFill>
            <a:srgbClr val="ECF0F1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25512" y="1691640"/>
            <a:ext cx="1325880" cy="2560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25512" y="16916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571232" y="1975104"/>
            <a:ext cx="1234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K=I_MENA/I_IEC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K&gt;1 = biais MENA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K→2 typique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56032" y="3200400"/>
            <a:ext cx="8567928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32004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NOTEBOOK v1 — FCM SUR DATASET MENA SIMULÉ (3 000 OBS. × 3 SITES)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56032" y="3547872"/>
            <a:ext cx="1371600" cy="388620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" y="3547872"/>
            <a:ext cx="1371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iter.</a:t>
            </a:r>
            <a:endParaRPr lang="en-US" sz="2000" dirty="0"/>
          </a:p>
        </p:txBody>
      </p:sp>
      <p:sp>
        <p:nvSpPr>
          <p:cNvPr id="55" name="Shape 53"/>
          <p:cNvSpPr/>
          <p:nvPr/>
        </p:nvSpPr>
        <p:spPr>
          <a:xfrm>
            <a:off x="256032" y="3936492"/>
            <a:ext cx="1371600" cy="38862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6032" y="3936492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FCM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719072" y="3547872"/>
            <a:ext cx="1371600" cy="3886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19072" y="3547872"/>
            <a:ext cx="1371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XB=0.117</a:t>
            </a:r>
            <a:endParaRPr lang="en-US" sz="2000" dirty="0"/>
          </a:p>
        </p:txBody>
      </p:sp>
      <p:sp>
        <p:nvSpPr>
          <p:cNvPr id="59" name="Shape 57"/>
          <p:cNvSpPr/>
          <p:nvPr/>
        </p:nvSpPr>
        <p:spPr>
          <a:xfrm>
            <a:off x="1719072" y="3936492"/>
            <a:ext cx="1371600" cy="38862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19072" y="3936492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Xie-Beni ✓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182112" y="3547872"/>
            <a:ext cx="1371600" cy="3886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82112" y="3547872"/>
            <a:ext cx="1371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97.0%</a:t>
            </a:r>
            <a:endParaRPr lang="en-US" sz="2000" dirty="0"/>
          </a:p>
        </p:txBody>
      </p:sp>
      <p:sp>
        <p:nvSpPr>
          <p:cNvPr id="63" name="Shape 61"/>
          <p:cNvSpPr/>
          <p:nvPr/>
        </p:nvSpPr>
        <p:spPr>
          <a:xfrm>
            <a:off x="3182112" y="3936492"/>
            <a:ext cx="1371600" cy="38862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182112" y="3936492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terrain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645152" y="3547872"/>
            <a:ext cx="1371600" cy="3886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45152" y="3547872"/>
            <a:ext cx="1371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c₂: T=0.73</a:t>
            </a:r>
            <a:endParaRPr lang="en-US" sz="2000" dirty="0"/>
          </a:p>
        </p:txBody>
      </p:sp>
      <p:sp>
        <p:nvSpPr>
          <p:cNvPr id="67" name="Shape 65"/>
          <p:cNvSpPr/>
          <p:nvPr/>
        </p:nvSpPr>
        <p:spPr>
          <a:xfrm>
            <a:off x="4645152" y="3936492"/>
            <a:ext cx="1371600" cy="38862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45152" y="3936492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critique MENA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108192" y="3547872"/>
            <a:ext cx="1371600" cy="3886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08192" y="3547872"/>
            <a:ext cx="1371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K=7.15</a:t>
            </a:r>
            <a:endParaRPr lang="en-US" sz="2000" dirty="0"/>
          </a:p>
        </p:txBody>
      </p:sp>
      <p:sp>
        <p:nvSpPr>
          <p:cNvPr id="71" name="Shape 69"/>
          <p:cNvSpPr/>
          <p:nvPr/>
        </p:nvSpPr>
        <p:spPr>
          <a:xfrm>
            <a:off x="6108192" y="3936492"/>
            <a:ext cx="1371600" cy="38862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08192" y="3936492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 critique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571232" y="3547872"/>
            <a:ext cx="1371600" cy="3886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71232" y="3547872"/>
            <a:ext cx="1371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sites</a:t>
            </a:r>
            <a:endParaRPr lang="en-US" sz="2000" dirty="0"/>
          </a:p>
        </p:txBody>
      </p:sp>
      <p:sp>
        <p:nvSpPr>
          <p:cNvPr id="75" name="Shape 73"/>
          <p:cNvSpPr/>
          <p:nvPr/>
        </p:nvSpPr>
        <p:spPr>
          <a:xfrm>
            <a:off x="7571232" y="3936492"/>
            <a:ext cx="1371600" cy="38862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571232" y="3936492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Côtier/Nord/Centre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 |   ÉTAT DE L'ART — 10 RÉFÉRENCES EN 4 BLOCS THÉMATIQUES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205740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74980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 — Fondements FCM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2057400" cy="749808"/>
          </a:xfrm>
          <a:prstGeom prst="rect">
            <a:avLst/>
          </a:prstGeom>
          <a:solidFill>
            <a:srgbClr val="ECF0F1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70432"/>
            <a:ext cx="73152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07008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Bezdek (1981) — Pattern Recognition w/ FOFA : Fondateur FCM, convergence de J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" y="1993392"/>
            <a:ext cx="2057400" cy="749808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993392"/>
            <a:ext cx="73152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29968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Xie &amp; Beni (1991) — IEEE PAMI : Indice XB pour choix optimal de C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68880" y="749808"/>
            <a:ext cx="2057400" cy="347472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74980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 — FIS Sugeno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1170432"/>
            <a:ext cx="2057400" cy="749808"/>
          </a:xfrm>
          <a:prstGeom prst="rect">
            <a:avLst/>
          </a:prstGeom>
          <a:solidFill>
            <a:srgbClr val="ECF0F1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1170432"/>
            <a:ext cx="73152" cy="749808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207008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Takagi &amp; Sugeno (1985) — IEEE SMC : Modèle Sugeno fondateur yᵢ=aᵢx+bᵢ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468880" y="1993392"/>
            <a:ext cx="2057400" cy="749808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1993392"/>
            <a:ext cx="73152" cy="749808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2029968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 (1993) — ANFIS IEEE : FIS adaptatif — justifie choix PSO vs gradient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468880" y="2816352"/>
            <a:ext cx="2057400" cy="749808"/>
          </a:xfrm>
          <a:prstGeom prst="rect">
            <a:avLst/>
          </a:prstGeom>
          <a:solidFill>
            <a:srgbClr val="ECF0F1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2816352"/>
            <a:ext cx="73152" cy="749808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78608" y="2852928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Mamdani &amp; Assilian (1975) — Comparaison Sugeno vs Mamdani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81728" y="749808"/>
            <a:ext cx="2057400" cy="34747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74980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3 — PSO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81728" y="1170432"/>
            <a:ext cx="2057400" cy="749808"/>
          </a:xfrm>
          <a:prstGeom prst="rect">
            <a:avLst/>
          </a:prstGeom>
          <a:solidFill>
            <a:srgbClr val="ECF0F1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1728" y="1170432"/>
            <a:ext cx="73152" cy="74980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1207008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Kennedy &amp; Eberhart (1995) — IEEE : Fondateurs PSO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81728" y="1993392"/>
            <a:ext cx="2057400" cy="749808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1728" y="1993392"/>
            <a:ext cx="73152" cy="74980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2029968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 &amp; Eberhart (1998) — Inertie w décroissante — version implémentée ici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94576" y="749808"/>
            <a:ext cx="205740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94576" y="74980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4 — Énergie &amp; MENA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94576" y="1170432"/>
            <a:ext cx="2057400" cy="749808"/>
          </a:xfrm>
          <a:prstGeom prst="rect">
            <a:avLst/>
          </a:prstGeom>
          <a:solidFill>
            <a:srgbClr val="ECF0F1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94576" y="1170432"/>
            <a:ext cx="73152" cy="7498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04304" y="1207008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Javied et al. (2019) — Procedia CIRP : IoT énergétique industriel — Europe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94576" y="1993392"/>
            <a:ext cx="2057400" cy="749808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94576" y="1993392"/>
            <a:ext cx="73152" cy="7498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04304" y="2029968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Pérez-Lombard (2008) — Energy &amp; Buildings : Indicateurs EnPI/baseline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94576" y="2816352"/>
            <a:ext cx="2057400" cy="749808"/>
          </a:xfrm>
          <a:prstGeom prst="rect">
            <a:avLst/>
          </a:prstGeom>
          <a:solidFill>
            <a:srgbClr val="ECF0F1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94576" y="2816352"/>
            <a:ext cx="73152" cy="7498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04304" y="2852928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 et al. (2021) — Energy Reports : FIS+énergie industrie ✓ MAIS données EUR/CHN — LACUNE COMBLÉE ICI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56032" y="4343400"/>
            <a:ext cx="8567928" cy="566928"/>
          </a:xfrm>
          <a:prstGeom prst="rect">
            <a:avLst/>
          </a:prstGeom>
          <a:solidFill>
            <a:srgbClr val="FEF9E7"/>
          </a:solidFill>
          <a:ln w="19050">
            <a:solidFill>
              <a:srgbClr val="D354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438912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POSITIONNEMENT : Aucune référence existante ne produit un facteur correctif K_MENA pour le biais climatique MENA. Ce mémoire comble cette lacune via FCM–FIS–PSO sur données IoT terrain tunisiennes.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 |   ÉQUATIONS PHARES — FONDEMENT MATHÉMATIQUE DU MODÈLE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13716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7498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— Obj.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27632" y="749808"/>
            <a:ext cx="7196328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3352" y="768096"/>
            <a:ext cx="705916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= Σᵢ Σⱼ  uᵢⱼᵐ · ‖xᵢ − cⱼ‖²</a:t>
            </a:r>
            <a:endParaRPr lang="en-US" sz="1100" dirty="0"/>
          </a:p>
          <a:p>
            <a:pPr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Minimise somme pondérée des distances. m=2 (fuzzifier), C=3 clusters, ε=10⁻⁴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1371600" cy="502920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3898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— cⱼ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27632" y="1389888"/>
            <a:ext cx="7196328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73352" y="1408176"/>
            <a:ext cx="705916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cⱼ = Σᵢ uᵢⱼᵐ · xᵢ  /  Σᵢ uᵢⱼᵐ</a:t>
            </a:r>
            <a:endParaRPr lang="en-US" sz="1100" dirty="0"/>
          </a:p>
          <a:p>
            <a:pPr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Moyenne pondérée → centres des 3 régimes : nominal, modéré, critique MENA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2029968"/>
            <a:ext cx="137160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0299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Sugeno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27632" y="2029968"/>
            <a:ext cx="7196328" cy="502920"/>
          </a:xfrm>
          <a:prstGeom prst="rect">
            <a:avLst/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73352" y="2048256"/>
            <a:ext cx="705916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yᵢ = aᵢ·ΔP + bᵢ·T_norm + cᵢ·LF + dᵢ     →     I_ineff = Σ wᵢyᵢ / Σ wᵢ</a:t>
            </a:r>
            <a:endParaRPr lang="en-US" sz="1100" dirty="0"/>
          </a:p>
          <a:p>
            <a:pPr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règles floues. Paramètres {aᵢ,bᵢ,cᵢ,dᵢ} optimisés par PSO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670048"/>
            <a:ext cx="1371600" cy="5029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6700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27632" y="2670048"/>
            <a:ext cx="7196328" cy="502920"/>
          </a:xfrm>
          <a:prstGeom prst="rect">
            <a:avLst/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73352" y="2688336"/>
            <a:ext cx="705916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vᵢᵗ⁺¹ = w·vᵢᵗ + c₁r₁(pbest−θ) + c₂r₂(gbest−θ)     θᵢᵗ⁺¹ = θᵢᵗ + vᵢᵗ⁺¹</a:t>
            </a:r>
            <a:endParaRPr lang="en-US" sz="1100" dirty="0"/>
          </a:p>
          <a:p>
            <a:pPr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Inertie w : 0.9→0.4 | c₁=c₂=2 | 30 particules | 100 itérations | Bornes physiques respectées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3310128"/>
            <a:ext cx="137160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3101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K_MENA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27632" y="3310128"/>
            <a:ext cx="7196328" cy="502920"/>
          </a:xfrm>
          <a:prstGeom prst="rect">
            <a:avLst/>
          </a:prstGeom>
          <a:solidFill>
            <a:srgbClr val="F4ECF7"/>
          </a:solidFill>
          <a:ln w="12700">
            <a:solidFill>
              <a:srgbClr val="F4EC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73352" y="3328416"/>
            <a:ext cx="705916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K_MENA = I_ineff_MENA / I_ineff_IEC_ref    ∈ [1, +∞[</a:t>
            </a:r>
            <a:endParaRPr lang="en-US" sz="1100" dirty="0"/>
          </a:p>
          <a:p>
            <a:pPr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Facteur correctif climatique. K=1 → conforme IEC. K&gt;1 → biais MENA structurel. Résultat v1 : K≈7 (régime critique)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" y="4343400"/>
            <a:ext cx="8567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Sugeno vs Mamdani : sortie numérique directe — compatible PSO sans défuzzification.  |  Choix PSO vs ANFIS : robuste aux minima locaux, sans calcul de dérivée, adapté aux contraintes physiques mixtes.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  |   TROIS SITES INDUSTRIELS — ZONES CLIMATIQUES CONTRASTÉES DE TUNISIE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2816352" cy="475488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74980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SITE 1 — SFAX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" y="1005840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Côtière Méditerranéenne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2816352" cy="22860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316736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T_amb : 26–32°C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1682496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: ~62%  (air humide salin)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2414016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 dominant : Nominal→Modéré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2779776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Proportions : 45% / 35% / 20%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3584448"/>
            <a:ext cx="2816352" cy="475488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358444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K_MENA ≈ 2.1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6032" y="4096512"/>
            <a:ext cx="2816352" cy="685800"/>
          </a:xfrm>
          <a:prstGeom prst="rect">
            <a:avLst/>
          </a:prstGeom>
          <a:solidFill>
            <a:srgbClr val="ECF0F1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4133088"/>
            <a:ext cx="267004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Humidité amplifie les pertes diélectriques et l'oxydation des contacts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27832" y="749808"/>
            <a:ext cx="2816352" cy="4754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74980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⛰️  SITE 2 — LE KEF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27832" y="1005840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Nord-Ouest Montagnarde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27832" y="1261872"/>
            <a:ext cx="2816352" cy="2286000"/>
          </a:xfrm>
          <a:prstGeom prst="rect">
            <a:avLst/>
          </a:prstGeom>
          <a:solidFill>
            <a:srgbClr val="D5F5E3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1316736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T_amb : 22–36°C (amplitude forte)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9272" y="1682496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: ~55%  (variable saisonnier)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19272" y="2414016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 dominant : Modéré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19272" y="2779776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Proportions : 30% / 40% / 30%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27832" y="3584448"/>
            <a:ext cx="2816352" cy="4754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27832" y="358444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K_MENA ≈ 3.2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27832" y="4096512"/>
            <a:ext cx="2816352" cy="685800"/>
          </a:xfrm>
          <a:prstGeom prst="rect">
            <a:avLst/>
          </a:prstGeom>
          <a:solidFill>
            <a:srgbClr val="ECF0F1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00984" y="4133088"/>
            <a:ext cx="267004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Alternances thermiques stressent les isolants et déforment les carters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99632" y="749808"/>
            <a:ext cx="2816352" cy="47548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74980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🏜️  SITE 3 — GABÈS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99632" y="1005840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Centre–Sud Aride Continental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99632" y="1261872"/>
            <a:ext cx="2816352" cy="2286000"/>
          </a:xfrm>
          <a:prstGeom prst="rect">
            <a:avLst/>
          </a:prstGeom>
          <a:solidFill>
            <a:srgbClr val="FDEBD0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1316736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T_amb : 34–45°C (canicule MENA)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91072" y="1682496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: ~40%  (air très sec, sable)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91072" y="2414016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 dominant : Critique MENA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91072" y="2779776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Proportions : 25% / 35% / 40%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99632" y="3584448"/>
            <a:ext cx="2816352" cy="47548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358444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K_MENA ≈ 5.8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99632" y="4096512"/>
            <a:ext cx="2816352" cy="685800"/>
          </a:xfrm>
          <a:prstGeom prst="rect">
            <a:avLst/>
          </a:prstGeom>
          <a:solidFill>
            <a:srgbClr val="ECF0F1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72784" y="4133088"/>
            <a:ext cx="267004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Dérating thermique maximal — conditions les plus sévères MENA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  |   RÉSULTATS NOTEBOOK v1 — FCM IMPLÉMENTÉ FROM SCRATCH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1600200" cy="411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7498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161288"/>
            <a:ext cx="1600200" cy="41148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612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sites × 1 an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93392" y="749808"/>
            <a:ext cx="1600200" cy="411480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3392" y="7498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iter.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993392" y="1161288"/>
            <a:ext cx="1600200" cy="41148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1612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FCM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m=2, C=3, ε=10⁻⁴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30752" y="749808"/>
            <a:ext cx="1600200" cy="4114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0752" y="7498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0.1176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30752" y="1161288"/>
            <a:ext cx="1600200" cy="41148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0752" y="11612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Xie-Beni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validés 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68112" y="749808"/>
            <a:ext cx="1600200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7498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97.0%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68112" y="1161288"/>
            <a:ext cx="1600200" cy="41148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11612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terrain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vérité simulée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05472" y="749808"/>
            <a:ext cx="1600200" cy="41148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05472" y="7498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K≈7.15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205472" y="1161288"/>
            <a:ext cx="1600200" cy="41148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11612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 critique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MENA confirmé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1719072"/>
            <a:ext cx="411480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1719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FCM — Espace [ΔP | T_norm | LF]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029968"/>
            <a:ext cx="457200" cy="530352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02996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13232" y="2029968"/>
            <a:ext cx="3657600" cy="530352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206654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5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c₀ — Nominal
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ΔP = −0.031  |  T = 0.132  |  LF = 0.877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07408" y="2139696"/>
            <a:ext cx="4416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Proche IEC ✓  (Site 1 dominant)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" y="2651760"/>
            <a:ext cx="457200" cy="53035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26517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13232" y="2651760"/>
            <a:ext cx="3657600" cy="530352"/>
          </a:xfrm>
          <a:prstGeom prst="rect">
            <a:avLst/>
          </a:prstGeom>
          <a:solidFill>
            <a:srgbClr val="FFF9E6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268833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35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c₁ — Modéré
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ΔP = +0.217  |  T = 0.475  |  LF = 0.717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07408" y="2761488"/>
            <a:ext cx="4416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thermique modéré  (Site 1 &amp; 2)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3273552"/>
            <a:ext cx="457200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327355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13232" y="3273552"/>
            <a:ext cx="3657600" cy="530352"/>
          </a:xfrm>
          <a:prstGeom prst="rect">
            <a:avLst/>
          </a:prstGeom>
          <a:solidFill>
            <a:srgbClr val="FDEDEC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331012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c₂ — Critique MENA
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ΔP = +0.486  |  T = 0.735  |  LF = 0.518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407408" y="3383280"/>
            <a:ext cx="4416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Canicule MENA  (Site 3 — Gabès dominant)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0" y="1719072"/>
            <a:ext cx="425196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17190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K_MENA PRÉLIMINAIRE PAR RÉGIME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3768060"/>
            <a:ext cx="1005840" cy="273588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34937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K=1.02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63440" y="407822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(Site 1)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943600" y="2974116"/>
            <a:ext cx="1005840" cy="106753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0" y="269979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K=3.98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943600" y="407822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(Site 2)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223760" y="2123846"/>
            <a:ext cx="1005840" cy="191780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0" y="184952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K=7.15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223760" y="407822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(Site 3)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63440" y="3773424"/>
            <a:ext cx="3931920" cy="0"/>
          </a:xfrm>
          <a:prstGeom prst="line">
            <a:avLst/>
          </a:prstGeom>
          <a:noFill/>
          <a:ln w="19050">
            <a:solidFill>
              <a:srgbClr val="1E8449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7406640" y="35905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IEC (K=1)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  |   FEUILLE DE ROUTE &amp; PROCHAINES ÉTAPES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2057400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6809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768096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v1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Complété ✓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389888"/>
            <a:ext cx="2057400" cy="502920"/>
          </a:xfrm>
          <a:prstGeom prst="rect">
            <a:avLst/>
          </a:prstGeom>
          <a:solidFill>
            <a:srgbClr val="1A3A2A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389888"/>
            <a:ext cx="109728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435608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MENA 3 sites simulé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" y="1956816"/>
            <a:ext cx="2057400" cy="502920"/>
          </a:xfrm>
          <a:prstGeom prst="rect">
            <a:avLst/>
          </a:prstGeom>
          <a:solidFill>
            <a:srgbClr val="1A3A2A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956816"/>
            <a:ext cx="109728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002536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7 figures produites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2523744"/>
            <a:ext cx="2057400" cy="502920"/>
          </a:xfrm>
          <a:prstGeom prst="rect">
            <a:avLst/>
          </a:prstGeom>
          <a:solidFill>
            <a:srgbClr val="1A3A2A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523744"/>
            <a:ext cx="109728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2569464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from scratch — 97% accord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3090672"/>
            <a:ext cx="2057400" cy="502920"/>
          </a:xfrm>
          <a:prstGeom prst="rect">
            <a:avLst/>
          </a:prstGeom>
          <a:solidFill>
            <a:srgbClr val="1A3A2A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3090672"/>
            <a:ext cx="109728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136392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K_MENA préliminaire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68880" y="749808"/>
            <a:ext cx="2057400" cy="5669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76809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926080" y="768096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v2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 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68880" y="1389888"/>
            <a:ext cx="20574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1389888"/>
            <a:ext cx="109728" cy="502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3472" y="1435608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Sugeno 3 règles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68880" y="1956816"/>
            <a:ext cx="20574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68880" y="1956816"/>
            <a:ext cx="109728" cy="502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33472" y="2002536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d'appart. gaussiennes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68880" y="2523744"/>
            <a:ext cx="20574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8880" y="2523744"/>
            <a:ext cx="109728" cy="502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2569464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optimisation θ*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68880" y="3090672"/>
            <a:ext cx="20574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3090672"/>
            <a:ext cx="109728" cy="502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33472" y="3136392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K_MENA convergé par site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81728" y="749808"/>
            <a:ext cx="2057400" cy="56692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76809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138928" y="768096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Planifiée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81728" y="1389888"/>
            <a:ext cx="20574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81728" y="1389888"/>
            <a:ext cx="109728" cy="5029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1435608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IoT réelles startup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81728" y="1956816"/>
            <a:ext cx="20574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81728" y="1956816"/>
            <a:ext cx="109728" cy="5029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002536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IEC 60034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81728" y="2523744"/>
            <a:ext cx="20574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81728" y="2523744"/>
            <a:ext cx="109728" cy="5029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2569464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ISO 50001 EnPI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81728" y="3090672"/>
            <a:ext cx="20574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81728" y="3090672"/>
            <a:ext cx="109728" cy="5029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136392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scientifique cible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894576" y="749808"/>
            <a:ext cx="2057400" cy="5669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94576" y="76809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7351776" y="768096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Planifiée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894576" y="1389888"/>
            <a:ext cx="20574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94576" y="1389888"/>
            <a:ext cx="109728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59168" y="1435608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chapitres structurés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94576" y="1956816"/>
            <a:ext cx="20574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94576" y="1956816"/>
            <a:ext cx="109728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9168" y="2002536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haute résolution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894576" y="2523744"/>
            <a:ext cx="20574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94576" y="2523744"/>
            <a:ext cx="109728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59168" y="2569464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Bibliographie 10 réf.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894576" y="3090672"/>
            <a:ext cx="20574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94576" y="3090672"/>
            <a:ext cx="109728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59168" y="3136392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IASRIA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56032" y="4572000"/>
            <a:ext cx="8567928" cy="38404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45720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IoT réelles startup → Notebook v2 → K_MENA validé → Publication scientifique MENA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Mémoire IASRIA — FCM–FIS–PSO MENA</dc:title>
  <dc:subject>PptxGenJS Presentation</dc:subject>
  <dc:creator>Wissem</dc:creator>
  <cp:lastModifiedBy>Wissem</cp:lastModifiedBy>
  <cp:revision>1</cp:revision>
  <dcterms:created xsi:type="dcterms:W3CDTF">2026-03-15T22:42:01Z</dcterms:created>
  <dcterms:modified xsi:type="dcterms:W3CDTF">2026-03-15T22:42:01Z</dcterms:modified>
</cp:coreProperties>
</file>